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058400" cy="4572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2026 SHENZHEN FINTECHATHON  /  TOPIC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058400" cy="10515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5800" b="1">
                <a:solidFill>
                  <a:srgbClr val="F6F9FB"/>
                </a:solidFill>
                <a:latin typeface="Lato"/>
              </a:defRPr>
            </a:pPr>
            <a:r>
              <a:t>CEKBAO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404872"/>
            <a:ext cx="10058400" cy="9144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3000" b="0">
                <a:solidFill>
                  <a:srgbClr val="F6F9FB"/>
                </a:solidFill>
                <a:latin typeface="Lato"/>
              </a:defRPr>
            </a:pPr>
            <a:r>
              <a:t>Student Payment Verification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9144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A1B5C4"/>
                </a:solidFill>
                <a:latin typeface="Lato"/>
              </a:defRPr>
            </a:pPr>
            <a:r>
              <a:t>Before tuition payments, cross-check the request against independently sourced university procedures.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50992"/>
            <a:ext cx="5943600" cy="521207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HMIF   |   INDONESIA   |   PRE-SUBMISSION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01  /  PROBLEM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Real fraud, measurable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212080" cy="3273552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45720" cy="3273552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03120"/>
            <a:ext cx="485546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SINGAPORE  |  MARCH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96896"/>
            <a:ext cx="4809744" cy="2478024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20+ reported cases; S$31,000+ in losses from education-institution impersonation. Urgent tuition emails sent victims toward external transfers.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1032" y="1920240"/>
            <a:ext cx="5623560" cy="3273552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71032" y="1920240"/>
            <a:ext cx="45720" cy="3273552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03120"/>
            <a:ext cx="526694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INDONESIA  |  UMTS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96896"/>
            <a:ext cx="5221224" cy="2478024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About 273 students reportedly affected. 28 slips did not match the six bank entries investigated. Initial discrepancy ~IDR 1.2bn; later audit figure differed.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650992"/>
            <a:ext cx="10881360" cy="512064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A1B5C4"/>
                </a:solidFill>
                <a:latin typeface="Lato"/>
              </a:defRPr>
            </a:pPr>
            <a:r>
              <a:t>Sources: Singapore Police Force (19 Mar 2026); detikSumut (23 Feb 2025; 26 Jan 2026). No national fraud rate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02  /  WHERE A NEW TOOL MAY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A student needs source-backed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611880" cy="3035808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5720" cy="3035808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25526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CURRENT: PROVIDERS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05456"/>
            <a:ext cx="3209544" cy="2240279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Flywire supports education payments. A payment rail does not prove a random external email is authorized.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828800"/>
            <a:ext cx="3611880" cy="3035808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828800"/>
            <a:ext cx="45720" cy="3035808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80"/>
            <a:ext cx="325526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CURRENT: SCAM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505456"/>
            <a:ext cx="3209544" cy="2240279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ScamShield checks suspicious communications. Generic classification may lack a campus policy reconciliation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828800"/>
            <a:ext cx="3602736" cy="3035808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1856" y="1828800"/>
            <a:ext cx="45720" cy="3035808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2011680"/>
            <a:ext cx="3246120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HYPOTHESIS: CEKBAO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505456"/>
            <a:ext cx="3200400" cy="2240279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Cross-check specific campus policy, receipt evidence and next steps, with citations and explicit uncertainty.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212080"/>
            <a:ext cx="10789920" cy="694944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USP is a testable workflow hypothesis, NOT a claim that competitors lack every function.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03  /  TARGET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One controlled pre-payment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2606040" cy="228600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2148840" cy="39319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4C7AC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5798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6F9FB"/>
                </a:solidFill>
                <a:latin typeface="Lato"/>
              </a:defRPr>
            </a:pPr>
            <a: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2194560" cy="4572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Request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907792"/>
            <a:ext cx="201168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4C7AC"/>
                </a:solidFill>
                <a:latin typeface="Lato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920240"/>
            <a:ext cx="2606040" cy="228600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103120"/>
            <a:ext cx="2148840" cy="39319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4C7AC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15798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6F9FB"/>
                </a:solidFill>
                <a:latin typeface="Lato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91840"/>
            <a:ext cx="2194560" cy="4572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Campus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907792"/>
            <a:ext cx="201168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4C7AC"/>
                </a:solidFill>
                <a:latin typeface="Lato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920240"/>
            <a:ext cx="2606040" cy="228600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148840" cy="39319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4C7AC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43200"/>
            <a:ext cx="215798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6F9FB"/>
                </a:solidFill>
                <a:latin typeface="Lato"/>
              </a:defRPr>
            </a:pPr>
            <a:r>
              <a:t>RECONCILE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91840"/>
            <a:ext cx="2194560" cy="4572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Synthetic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907792"/>
            <a:ext cx="201168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4C7AC"/>
                </a:solidFill>
                <a:latin typeface="Lato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33687" y="1920240"/>
            <a:ext cx="2606040" cy="228600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9" y="2103120"/>
            <a:ext cx="2148840" cy="39319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4C7AC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743200"/>
            <a:ext cx="215798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6F9FB"/>
                </a:solidFill>
                <a:latin typeface="Lato"/>
              </a:defRPr>
            </a:pPr>
            <a:r>
              <a:t>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3291840"/>
            <a:ext cx="2194560" cy="4572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Official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10789920" cy="91440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C862"/>
                </a:solidFill>
                <a:latin typeface="Lato"/>
              </a:defRPr>
            </a:pPr>
            <a:r>
              <a:t>Current: deterministic policy checks. Pending: authenticated AI extraction, protected policy sources and auditable user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04  /  ACTUAL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Offline baseline has reproducible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239512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45720" cy="333756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4882896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4 / 4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51176"/>
            <a:ext cx="4837176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Spoofed payee and domain; unconfirmed synthetic tuition slip; matching synthetic policy; unknown institution.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0176" y="1874519"/>
            <a:ext cx="5596128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0176" y="1874519"/>
            <a:ext cx="45720" cy="3337560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057400"/>
            <a:ext cx="5239512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10 / 10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551176"/>
            <a:ext cx="5193792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All ten local unit tests passed. This verifies only the deterministic checker and synthetic fixture scenarios.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96128"/>
            <a:ext cx="10789920" cy="5943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Not tested: live LLM inference, bank confirmation, institutional integrations or user effectiveness.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05  /  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Safety must be enforceable, not asserted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285232" cy="329184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5720" cy="329184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28616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BASELINE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05456"/>
            <a:ext cx="4882896" cy="249631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Exact HTTPS host comparison; payee/channel mismatch; unknown institution refusal; synthetic ledger conflict; no settlement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5559552" cy="329184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45720" cy="3291840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2011680"/>
            <a:ext cx="5202936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GAPS TO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505456"/>
            <a:ext cx="5157216" cy="249631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Server authentication; object ownership; prompt injection; immutable audit; data retention; access tiers; demo with real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96128"/>
            <a:ext cx="10698480" cy="5303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The current sandbox does not meet the required permission-tier implementation standard.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06  /  SUSPICIOUS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Example 1: prevent unsafe financial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09376" cy="3456432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85416"/>
            <a:ext cx="9875520" cy="384048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6F9FB"/>
                </a:solidFill>
                <a:latin typeface="Lato"/>
              </a:defRPr>
            </a:pPr>
            <a:r>
              <a:t>INPUT  /  Unverified university lookalike link + third-party payee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9875520" cy="658368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4C7AC"/>
                </a:solidFill>
                <a:latin typeface="Lato"/>
              </a:defRPr>
            </a:pPr>
            <a:r>
              <a:t>RESULT  /  REQUIRES_OFFICIAL_CHECK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22776"/>
            <a:ext cx="9875520" cy="786384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1B5C4"/>
                </a:solidFill>
                <a:latin typeface="Lato"/>
              </a:defRPr>
            </a:pPr>
            <a:r>
              <a:t>Flags: REQUEST_DOMAIN_MISMATCH, PAYEE_MISMATCH, PAYMENT_CHANNEL_MISMATCH, URGENCY_PRESSURE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07  /  SYNTHETIC UKT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Example 2: a slip does not prove settlement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1009376" cy="3456432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85416"/>
            <a:ext cx="9875520" cy="402336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6F9FB"/>
                </a:solidFill>
                <a:latin typeface="Lato"/>
              </a:defRPr>
            </a:pPr>
            <a:r>
              <a:t>INPUT  /  Tuition slip present, no matching fictional ledger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9875520" cy="658368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24C7AC"/>
                </a:solidFill>
                <a:latin typeface="Lato"/>
              </a:defRPr>
            </a:pPr>
            <a:r>
              <a:t>RESULT  /  REQUIRES_OFFICIAL_CHECK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41063"/>
            <a:ext cx="9875520" cy="813816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C862"/>
                </a:solidFill>
                <a:latin typeface="Lato"/>
              </a:defRPr>
            </a:pPr>
            <a:r>
              <a:t>Flag: SLIP_NOT_FOUND_IN_SYNTHETIC_LEDGER  |  BANK SETTLEMENT: NOT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08  /  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Institutional buyer is a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03520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5720" cy="333756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4690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TARGET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05456"/>
            <a:ext cx="4901183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Students reviewing high-stakes tuition or deposit requests, with English and Indonesian sample communications.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1828800"/>
            <a:ext cx="5559552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16752" y="1828800"/>
            <a:ext cx="45720" cy="3337560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202936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BUYER TO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05456"/>
            <a:ext cx="5157216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University international offices or student-support programs. No contract, pilot, payment or willingness-to-pay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05272"/>
            <a:ext cx="10789920" cy="521207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Measure false clearance, safe action completion, user comprehension and time vs manual campus-policy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058400" cy="32004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4C7AC"/>
                </a:solidFill>
                <a:latin typeface="Lato"/>
              </a:defRPr>
            </a:pPr>
            <a:r>
              <a:t>09  /  REQUIRED DELIVERY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95528"/>
            <a:ext cx="10881360" cy="7589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6F9FB"/>
                </a:solidFill>
                <a:latin typeface="Lato"/>
              </a:defRPr>
            </a:pPr>
            <a:r>
              <a:t>Finish the agent before final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1B5C4"/>
                </a:solidFill>
                <a:latin typeface="Lato"/>
              </a:defRPr>
            </a:pPr>
            <a:r>
              <a:t>HMIF  |  CEKBAO  |  DRAFT: verified baseline + planned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9672"/>
            <a:ext cx="365760" cy="18288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4C7AC"/>
                </a:solidFill>
                <a:latin typeface="Lato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03520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5720" cy="3337560"/>
          </a:xfrm>
          <a:prstGeom prst="rect">
            <a:avLst/>
          </a:prstGeom>
          <a:solidFill>
            <a:srgbClr val="24C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4946904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C7AC"/>
                </a:solidFill>
                <a:latin typeface="Lato"/>
              </a:defRPr>
            </a:pPr>
            <a:r>
              <a:t>CREATED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05456"/>
            <a:ext cx="4901183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Draft technical documentation; draft security assessment; editable deck; actual offline baseline logs and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1828800"/>
            <a:ext cx="5559552" cy="3337560"/>
          </a:xfrm>
          <a:prstGeom prst="roundRect">
            <a:avLst/>
          </a:prstGeom>
          <a:solidFill>
            <a:srgbClr val="11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16752" y="1828800"/>
            <a:ext cx="45720" cy="3337560"/>
          </a:xfrm>
          <a:prstGeom prst="rect">
            <a:avLst/>
          </a:prstGeom>
          <a:solidFill>
            <a:srgbClr val="F5C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202936" cy="365760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C862"/>
                </a:solidFill>
                <a:latin typeface="Lato"/>
              </a:defRPr>
            </a:pPr>
            <a:r>
              <a:t>STILL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05456"/>
            <a:ext cx="5157216" cy="254203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6F9FB"/>
                </a:solidFill>
                <a:latin typeface="Lato"/>
              </a:defRPr>
            </a:pPr>
            <a:r>
              <a:t>Model-enabled agent; real authentication; sandbox action audit; final evidence logs; public judge repo; actual screen-demo video.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5577840"/>
            <a:ext cx="10789920" cy="530352"/>
          </a:xfrm>
          <a:prstGeom prst="rect">
            <a:avLst/>
          </a:prstGeom>
          <a:noFill/>
        </p:spPr>
        <p:txBody>
          <a:bodyPr wrap="square" lIns="27432" rIns="27432" tIns="18288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1B5C4"/>
                </a:solidFill>
                <a:latin typeface="Lato"/>
              </a:defRPr>
            </a:pPr>
            <a:r>
              <a:t>No submission or real-world security claim is authorized by these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